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32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380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634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252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74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7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533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707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80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7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780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582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963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961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193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557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556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1C4FF7-1521-C39F-12C0-5DA5F514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A98F65-3B60-65B2-2E62-4EE214C1B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53045E-25D7-B0FD-DC53-89C12DAE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1013B9-8C37-64B0-85D7-6D5A397F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266848-167C-BDF4-E2D2-C2C9A75C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14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900D7-A204-4BBA-B566-730B6607831B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7B0F0-A9E3-46DB-9EB9-F89244984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7439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BE2FA-1C26-3A00-B1FB-E853333C9C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Прогнозирование численности студентов высшего образования в РФ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4EB45-A5A4-1296-EABD-54BD3E397874}"/>
              </a:ext>
            </a:extLst>
          </p:cNvPr>
          <p:cNvSpPr txBox="1"/>
          <p:nvPr/>
        </p:nvSpPr>
        <p:spPr>
          <a:xfrm>
            <a:off x="7101840" y="4450080"/>
            <a:ext cx="5090160" cy="17030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Денисов М.О.</a:t>
            </a:r>
          </a:p>
          <a:p>
            <a:pPr algn="ctr">
              <a:lnSpc>
                <a:spcPct val="150000"/>
              </a:lnSpc>
            </a:pP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Б-751031</a:t>
            </a:r>
          </a:p>
          <a:p>
            <a:pPr algn="ctr">
              <a:lnSpc>
                <a:spcPct val="150000"/>
              </a:lnSpc>
            </a:pPr>
            <a:r>
              <a:rPr lang="ru-RU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Веб-разработка, дизайн и продвижение интернет-решений 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1367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B0B57-CE48-DBDC-45AD-5EBF4206815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787AD1-9B1F-E203-D05F-B00F7A97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/>
              <a:t>Цель: разработать интерактивный веб-сайт для прогнозирования численности студентов вузов РФ на основе данных 2010–2030.</a:t>
            </a:r>
          </a:p>
          <a:p>
            <a:endParaRPr lang="ru-RU"/>
          </a:p>
          <a:p>
            <a:r>
              <a:rPr lang="ru-RU"/>
              <a:t>Задачи:</a:t>
            </a:r>
          </a:p>
          <a:p>
            <a:r>
              <a:rPr lang="ru-RU"/>
              <a:t>• Проанализировать временные ряды ключевых показателей (студенты, бюджетные места, иностранцы, безработица, инвестиции, доходы).</a:t>
            </a:r>
          </a:p>
          <a:p>
            <a:r>
              <a:rPr lang="ru-RU"/>
              <a:t>• Построить прогноз до 2030 года на основе официальных данных.</a:t>
            </a:r>
          </a:p>
          <a:p>
            <a:r>
              <a:rPr lang="ru-RU"/>
              <a:t>• Создать интерактивный дашборд с графиками и возможностью сравнения метрик.</a:t>
            </a:r>
          </a:p>
          <a:p>
            <a:r>
              <a:rPr lang="ru-RU"/>
              <a:t>• Оформить отчёт о проделанной работе.</a:t>
            </a:r>
          </a:p>
        </p:txBody>
      </p:sp>
    </p:spTree>
    <p:extLst>
      <p:ext uri="{BB962C8B-B14F-4D97-AF65-F5344CB8AC3E}">
        <p14:creationId xmlns:p14="http://schemas.microsoft.com/office/powerpoint/2010/main" val="280985540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34903-A3A9-502E-B37E-917A763E487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Актуальность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653BE8-C9B7-FCFA-310F-65D22B35D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• Демографические изменения и трансформация рынка труда требуют точного прогнозирования контингента студентов.</a:t>
            </a:r>
          </a:p>
          <a:p>
            <a:r>
              <a:rPr lang="ru-RU"/>
              <a:t>• Бюджетная политика в сфере образования зависит от числа абитуриентов.</a:t>
            </a:r>
          </a:p>
          <a:p>
            <a:r>
              <a:rPr lang="ru-RU"/>
              <a:t>• Рост иностранных студентов и инвестиций в образование меняет структуру высшей школы.</a:t>
            </a:r>
          </a:p>
          <a:p>
            <a:r>
              <a:rPr lang="ru-RU"/>
              <a:t>• Разработанный инструмент позволяет визуализировать тренды и принимать обоснованные управленческие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68753416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7C823-C43E-25C8-70C1-F206BA5BEB0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Источники данных и структура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0890E5-FAFD-D3C0-6F00-BCFDF791C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/>
              <a:t>Данные получены из агрегированного XLSX-файла, содержащего следующие листы:</a:t>
            </a:r>
          </a:p>
          <a:p>
            <a:r>
              <a:rPr lang="ru-RU"/>
              <a:t>• исходные данные (2010–2025 факт)</a:t>
            </a:r>
          </a:p>
          <a:p>
            <a:r>
              <a:rPr lang="ru-RU"/>
              <a:t>• студенты / молодёжь / выпускники 11 класса</a:t>
            </a:r>
          </a:p>
          <a:p>
            <a:r>
              <a:rPr lang="ru-RU"/>
              <a:t>• доходы, иностранные студенты, бюджетные места, безработица, инвестиции</a:t>
            </a:r>
          </a:p>
          <a:p>
            <a:r>
              <a:rPr lang="ru-RU"/>
              <a:t>• прогнозируемые значения (2026–2030)</a:t>
            </a:r>
          </a:p>
          <a:p>
            <a:endParaRPr lang="ru-RU"/>
          </a:p>
          <a:p>
            <a:r>
              <a:rPr lang="ru-RU"/>
              <a:t>Все показатели приведены в тыс. человек, процентах или млрд руб.</a:t>
            </a:r>
          </a:p>
        </p:txBody>
      </p:sp>
    </p:spTree>
    <p:extLst>
      <p:ext uri="{BB962C8B-B14F-4D97-AF65-F5344CB8AC3E}">
        <p14:creationId xmlns:p14="http://schemas.microsoft.com/office/powerpoint/2010/main" val="370077133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08B021-5711-2382-BCE0-B370F934BBA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Методика прогнозирования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6612C3-D358-3860-5B6C-CD6776C3D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/>
              <a:t>Прогноз численности студентов на 2026–2030 гг. основывается на:</a:t>
            </a:r>
          </a:p>
          <a:p>
            <a:r>
              <a:rPr lang="ru-RU"/>
              <a:t>1. Трендах численности населения в возрасте 15–24 лет.</a:t>
            </a:r>
          </a:p>
          <a:p>
            <a:r>
              <a:rPr lang="ru-RU"/>
              <a:t>2. Плановых значениях бюджетных мест и целевого приёма.</a:t>
            </a:r>
          </a:p>
          <a:p>
            <a:r>
              <a:rPr lang="ru-RU"/>
              <a:t>3. Увеличении доли иностранных студентов (темп роста ~6% в год).</a:t>
            </a:r>
          </a:p>
          <a:p>
            <a:r>
              <a:rPr lang="ru-RU"/>
              <a:t>4. Экстраполяции линейного тренда с учётом стабилизации выпуска школ.</a:t>
            </a:r>
          </a:p>
          <a:p>
            <a:r>
              <a:rPr lang="ru-RU"/>
              <a:t>5. Корректировке по инвестициям в образование и уровню безработицы.</a:t>
            </a:r>
          </a:p>
        </p:txBody>
      </p:sp>
    </p:spTree>
    <p:extLst>
      <p:ext uri="{BB962C8B-B14F-4D97-AF65-F5344CB8AC3E}">
        <p14:creationId xmlns:p14="http://schemas.microsoft.com/office/powerpoint/2010/main" val="237617789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BBCB17-B8A5-52D9-C32E-0A99B2FBBB0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Основные KPI (факт 2025 и прогноз 2030)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C63069-E2D7-34F7-E0EB-0B2E84DF1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dirty="0"/>
              <a:t>Показатель                      | 2025 (факт) | 2030 (прогноз) | Изменение</a:t>
            </a:r>
          </a:p>
          <a:p>
            <a:r>
              <a:rPr lang="ru-RU" dirty="0"/>
              <a:t>--------------------------------|-------------|----------------|-----------</a:t>
            </a:r>
          </a:p>
          <a:p>
            <a:r>
              <a:rPr lang="ru-RU" dirty="0"/>
              <a:t>Студенты, тыс. чел.              | 4 658        | 5 392          | +15,7%</a:t>
            </a:r>
          </a:p>
          <a:p>
            <a:r>
              <a:rPr lang="ru-RU" dirty="0"/>
              <a:t>Бюджетные места, тыс.         | 592          | 655            | +10,6%</a:t>
            </a:r>
          </a:p>
          <a:p>
            <a:r>
              <a:rPr lang="ru-RU" dirty="0"/>
              <a:t>Иностранные студенты, тыс. | 410          | 545            | +32,9%</a:t>
            </a:r>
          </a:p>
          <a:p>
            <a:r>
              <a:rPr lang="ru-RU" dirty="0"/>
              <a:t>Безработица молодёжи, %     | 8,5           | 5,9            | -30,6%</a:t>
            </a:r>
          </a:p>
          <a:p>
            <a:r>
              <a:rPr lang="ru-RU" dirty="0"/>
              <a:t>Инвестиции в образование, млрд ? | 887 | 1 295          | +46,0%</a:t>
            </a:r>
          </a:p>
        </p:txBody>
      </p:sp>
    </p:spTree>
    <p:extLst>
      <p:ext uri="{BB962C8B-B14F-4D97-AF65-F5344CB8AC3E}">
        <p14:creationId xmlns:p14="http://schemas.microsoft.com/office/powerpoint/2010/main" val="642743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FFBB89C-3561-C0C5-C403-E8BF1F8D219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Получившийся сайт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EEA3C76-65B8-9FCE-985C-4F9539302B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38" y="2336873"/>
            <a:ext cx="4697412" cy="2928741"/>
          </a:xfr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D621B50-90C4-C233-4A30-EE6E140F8D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350" y="2336873"/>
            <a:ext cx="4700588" cy="2941898"/>
          </a:xfrm>
        </p:spPr>
      </p:pic>
    </p:spTree>
    <p:extLst>
      <p:ext uri="{BB962C8B-B14F-4D97-AF65-F5344CB8AC3E}">
        <p14:creationId xmlns:p14="http://schemas.microsoft.com/office/powerpoint/2010/main" val="14237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17</TotalTime>
  <Words>364</Words>
  <Application>Microsoft Office PowerPoint</Application>
  <PresentationFormat>Широкоэкранный</PresentationFormat>
  <Paragraphs>41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Берлин</vt:lpstr>
      <vt:lpstr>Прогнозирование численности студентов высшего образования в РФ</vt:lpstr>
      <vt:lpstr>Цель и задачи практики</vt:lpstr>
      <vt:lpstr>Актуальность работы</vt:lpstr>
      <vt:lpstr>Источники данных и структура</vt:lpstr>
      <vt:lpstr>Методика прогнозирования</vt:lpstr>
      <vt:lpstr>Основные KPI (факт 2025 и прогноз 2030)</vt:lpstr>
      <vt:lpstr>Получившийся сайт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Denisov Maksim</dc:creator>
  <cp:lastModifiedBy>Denisov Maksim</cp:lastModifiedBy>
  <cp:revision>4</cp:revision>
  <dcterms:created xsi:type="dcterms:W3CDTF">2026-06-08T22:15:53Z</dcterms:created>
  <dcterms:modified xsi:type="dcterms:W3CDTF">2026-06-10T21:52:34Z</dcterms:modified>
</cp:coreProperties>
</file>